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29B87"/>
                </a:solidFill>
              </a:rPr>
              <a:t>BANGLADESH EXPORT TEXTILES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ESG Supply Chain Risk &amp;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2C55E"/>
                </a:solidFill>
              </a:rPr>
              <a:t>Compliance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29B87"/>
                </a:solidFill>
              </a:rPr>
              <a:t>Confidential Investor Deck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Regulatory Wave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7F2"/>
                </a:solidFill>
              </a:rPr>
              <a:t>CSRD, SEC Climate Rule, CBAM, and EU Deforestation Regulation demand verified emissions data — factories face fines up to $50/tonne CO₂ under CBAM for non-compliance.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39"/>
            <a:ext cx="11247120" cy="10972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79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Fragmented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99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7F2"/>
                </a:solidFill>
              </a:rPr>
              <a:t>Manual spreadsheets, WhatsApp messages, and disconnected ERPs create a compliance blind spot. Auditors cannot verify reported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05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Investor Scrutiny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2511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7F2"/>
                </a:solidFill>
              </a:rPr>
              <a:t>H&amp;M, Zara, and Primark now require annual verified ESG data as a condition of continued orders. Non-compliance risks $47B in annual exports.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30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Supply Chain Opacity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509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7F2"/>
                </a:solidFill>
              </a:rPr>
              <a:t>Scope 3 emissions across the supply chain are invisible. Factories cannot answer the single most important buyer question: what is your true carbon footprint?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7F2"/>
                </a:solidFill>
              </a:rPr>
              <a:t>One platform that automates ESG data collection, maps to every major framework,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7F2"/>
                </a:solidFill>
              </a:rPr>
              <a:t>and provides auditors with a tamper-evident evidence chain.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50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✓  Automated 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791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WhatsApp AI bot collects supplier ESG data in Bengali, with GPT-4o-mini intent classification and 4-tier questionnaire 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47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✓  Multi-Framework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76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One data entry maps to CSRD ESRS E1-1, IFRS S2-1 through S2-4, TCFD G1/S1/R1/M1, and GHG Protocol Scope 3 simultaneously.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11247120" cy="9144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44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✓  Tamper-Evident Evidence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73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SHA-256 hash chain from source system to reported number. Every data point is cryptographically traceable.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41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✓  Real-Time Risk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7103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A/B/C tiering with weighted risk formula. Alerts fire when supplier data shows deterioration before a compliance deadline.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Supplier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Factory registers via WhatsApp. The AI bot conducts a 4-tier questionnaire covering environment, labour rights, governance, and safety. Data stored in encrypted evidence vault.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47120" cy="9144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Energy (smart meters / utility bills), water, diesel, and logistics data automatically ingested via API or CSV upload. No manual spreadsheet entry.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39"/>
            <a:ext cx="11247120" cy="9144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375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Framework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Raw data mapped to CSRD ESRS E1-1, IFRS S2-1 through S2-4, TCFD G1/S1/R1/M1, and GHG Protocol Scope 3 categories. One entry, multiple outputs.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11247120" cy="9144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Risk Scoring &amp;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A/B/C tiering based on (Weighted Score × Criticality) − Compliance Gap. Tier A suppliers get quarterly reviews; Tier C triggers immediate escalation.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94959"/>
            <a:ext cx="11247120" cy="9144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0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4406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Audit-Ready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One-click PDF report with SHA-256 evidence chain. Auditors can independently verify any reported figure back to its source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Live Operations Dashboard  |  Bangladesh Export Textiles Ltd.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13716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B87"/>
                </a:solidFill>
              </a:rPr>
              <a:t>Energy Consumption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</a:rPr>
              <a:t>845,000 kWh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29B87"/>
                </a:solidFill>
              </a:rPr>
              <a:t>Grid factor: 0.370 kg CO₂/kWh  |  Source: BPDB 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94960" cy="13716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B87"/>
                </a:solidFill>
              </a:rPr>
              <a:t>Total Verified Emissions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361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</a:rPr>
              <a:t>443 tCO₂e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29B87"/>
                </a:solidFill>
              </a:rPr>
              <a:t>Scope 1: 100  |  Scope 2: 343  |  Scope 3: See 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5303520" cy="13716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B87"/>
                </a:solidFill>
              </a:rPr>
              <a:t>Water Withdrawal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821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</a:rPr>
              <a:t>12,450 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39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29B87"/>
                </a:solidFill>
              </a:rPr>
              <a:t>FY2024 YTD  |  Source: Factory utility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834640"/>
            <a:ext cx="5394960" cy="13716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926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B87"/>
                </a:solidFill>
              </a:rPr>
              <a:t>Scope 3 — Purchased Goods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821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</a:rPr>
              <a:t>~4,000 tCO₂e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393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29B87"/>
                </a:solidFill>
              </a:rPr>
              <a:t>8 of 15 GHG Protocol categories tracked  |  Cat 1 is largest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29B87"/>
                </a:solidFill>
              </a:rPr>
              <a:t>Note: 845,000 kWh × 0.370 kg CO₂/kWh = 312.65 tCO₂e (Scope 2). Total Scope 1+2 = 443 tCO₂e after diesel &amp; refrigerant. Scope 3 Cat 1 estimated at ~4,000 tCO₂e from supplier spend data — primary emissions driver.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93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Supplier Risk Tiers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Tier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70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7F2"/>
                </a:solidFill>
              </a:rPr>
              <a:t>Score 80–100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Tier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870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7F2"/>
                </a:solidFill>
              </a:rPr>
              <a:t>Score 50–79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Tier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19" y="5870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7F2"/>
                </a:solidFill>
              </a:rPr>
              <a:t>Score 0–49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Data Inventory  |  75 Data Points Across 5 Clusters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143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1247120" cy="566928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Energy &amp; Emissions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645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645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Smart meter / Utility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ESRS E1-1, IFRS S2, TCFD M1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76272"/>
            <a:ext cx="11247120" cy="566928"/>
          </a:xfrm>
          <a:prstGeom prst="rect">
            <a:avLst/>
          </a:prstGeom>
          <a:solidFill>
            <a:srgbClr val="0C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677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Water &amp; Waste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2677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2677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Meter readings / Invoice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2677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ESRS E2-2, CDP Water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98064"/>
            <a:ext cx="11247120" cy="566928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895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Labour &amp; 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8895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8895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WhatsApp AI questionnaire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88950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ESRS S1-2, Modern Slavery 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19856"/>
            <a:ext cx="11247120" cy="566928"/>
          </a:xfrm>
          <a:prstGeom prst="rect">
            <a:avLst/>
          </a:prstGeom>
          <a:solidFill>
            <a:srgbClr val="0C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51129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Supply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5112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5112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Supplier API / CSV upload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5112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GHG Protocol Scope 3, cat 1–8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41648"/>
            <a:ext cx="11247120" cy="566928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33087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Governance &amp;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13308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133087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Self-assessment + 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13308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ESRS G1-1, ISO 45001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29B87"/>
                </a:solidFill>
              </a:rPr>
              <a:t>Total: 75 data points  |  Coverage: 8 Scope 3 categories (of 15 per GHG Protocol)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Internal Label System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B87"/>
                </a:solidFill>
              </a:rPr>
              <a:t>Platform labels help classify supplier risk profiles and data quality. These are internal taxonomy keys, not industry standards.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384048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Risk Score Tiers  (G2 / G3 / G5 / G8)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751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G2  =  Low risk  (Score 80–100)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G3  =  Medium risk  (Score 50–79)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78608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15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G5  =  High risk  (Score 20–49, attention required)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98648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3522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G8  =  Critical risk  (Score 0–19, immediate escalation)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10128"/>
            <a:ext cx="11247120" cy="384048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558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</a:rPr>
              <a:t>Profile Clusters  (labour_rights / environment / governance / safety / gender)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94176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07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labour_rights  —  Wage, hours, collective bargaining compliance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14216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50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environment  —  Energy, water, waste, emissions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34256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708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governance  —  Board composition, anti-corruption, data 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54296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6908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safety  —  ISO 45001, LTIR, TRIFR, emergency preparedness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74336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109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gender  —  Pay equity, discrimination policy, female representation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85815"/>
            <a:ext cx="11247120" cy="384048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43153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Scope 3 Categories  (cat_1 through cat_12, omitting cat_10)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9863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064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cat_1  Purchased goods/services  |  cat_2  Capital goods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089903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12647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cat_3  Fuel and energy  |  cat_4  Upstream transport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09943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44651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cat_5  Waste generated  |  cat_6  Business travel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729983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7665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cat_7  Employee commuting  |  cat_8  Upstream leased assets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7050023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708659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cat_9  Downstream transport  |  cat_11  Use of sold products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7370063"/>
            <a:ext cx="11247120" cy="32004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74066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  •  cat_12  End-of-life processing  |  cat_13  Downstream leased assets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Business Model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377440" cy="2468880"/>
          </a:xfrm>
          <a:prstGeom prst="rect">
            <a:avLst/>
          </a:prstGeom>
          <a:solidFill>
            <a:srgbClr val="12201C"/>
          </a:solidFill>
          <a:ln w="6350">
            <a:solidFill>
              <a:srgbClr val="1E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14300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</a:rPr>
              <a:t>KEY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89888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BGMEA (trade body partnership)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581912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EU retail brands (H&amp;M, Zara, Primark)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773936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WhatsApp / Meta (AI bot channel)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965960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SAP Business One integration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15798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Audit firms (Big 4 ESG verification)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350008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WRI, CDP, GHG Protocol (standards bodies)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097280"/>
            <a:ext cx="2286000" cy="2468880"/>
          </a:xfrm>
          <a:prstGeom prst="rect">
            <a:avLst/>
          </a:prstGeom>
          <a:solidFill>
            <a:srgbClr val="12201C"/>
          </a:solidFill>
          <a:ln w="6350">
            <a:solidFill>
              <a:srgbClr val="1E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114300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</a:rPr>
              <a:t>KEY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1389888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ESG data collection &amp;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1581912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Multi-framework mapping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177393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SHA-256 evidence vault operation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1965960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WhatsApp AI bot (Bengali NLP)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2157984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Risk scoring &amp; tier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2350008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PDF audit report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1097280"/>
            <a:ext cx="3200400" cy="2468880"/>
          </a:xfrm>
          <a:prstGeom prst="rect">
            <a:avLst/>
          </a:prstGeom>
          <a:solidFill>
            <a:srgbClr val="12201C"/>
          </a:solidFill>
          <a:ln w="6350">
            <a:solidFill>
              <a:srgbClr val="1E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114300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</a:rPr>
              <a:t>VALUE PROPOSITIONS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1389888"/>
            <a:ext cx="3054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Automated ESG compliance (CSRD, CBAM, SEC)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1581912"/>
            <a:ext cx="3054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One entry → all major frameworks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1773936"/>
            <a:ext cx="3054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Tamper-evident audit trail (SHA-256)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1965960"/>
            <a:ext cx="3054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WhatsApp-first — no app download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2157984"/>
            <a:ext cx="3054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Supplier risk tiering (A/B/C with alerts)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2" y="2350008"/>
            <a:ext cx="3054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Real-time data vs. annual manual reporting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1097280"/>
            <a:ext cx="1828800" cy="2468880"/>
          </a:xfrm>
          <a:prstGeom prst="rect">
            <a:avLst/>
          </a:prstGeom>
          <a:solidFill>
            <a:srgbClr val="12201C"/>
          </a:solidFill>
          <a:ln w="6350">
            <a:solidFill>
              <a:srgbClr val="1E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114300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</a:rPr>
              <a:t>CUSTOMER RELATIONSHIPS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1389888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Dedicated CSM (Tier 2+)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158191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In-app alerts &amp; risk 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8512" y="1773936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Quarterly business reviews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1965960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Shared Slack channel (anchor customers)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2157984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Self-serve onboarding (Tier 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61320" y="1097280"/>
            <a:ext cx="1325880" cy="2468880"/>
          </a:xfrm>
          <a:prstGeom prst="rect">
            <a:avLst/>
          </a:prstGeom>
          <a:solidFill>
            <a:srgbClr val="12201C"/>
          </a:solidFill>
          <a:ln w="6350">
            <a:solidFill>
              <a:srgbClr val="1E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34472" y="1143000"/>
            <a:ext cx="1179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</a:rPr>
              <a:t>CUSTOMER SEGMENTS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34472" y="1389888"/>
            <a:ext cx="1179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Bangladesh garment factories (2,800+)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34472" y="1581912"/>
            <a:ext cx="1179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EU-exporting manufacturers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34472" y="1773936"/>
            <a:ext cx="1179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H&amp;M/Zara/Primark tier-1 suppliers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34472" y="1965960"/>
            <a:ext cx="1179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Vietnam &amp; India expansion (Year 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34472" y="2157984"/>
            <a:ext cx="1179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Enterprise: $80K+/year tier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703320"/>
            <a:ext cx="2377440" cy="1737360"/>
          </a:xfrm>
          <a:prstGeom prst="rect">
            <a:avLst/>
          </a:prstGeom>
          <a:solidFill>
            <a:srgbClr val="12201C"/>
          </a:solidFill>
          <a:ln w="6350">
            <a:solidFill>
              <a:srgbClr val="1E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3749039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</a:rPr>
              <a:t>KEY RESOURCES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" y="3995928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ESG framework mapping database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" y="4187952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SHA-256 evidence vault (cloud)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" y="4379976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WhatsApp AI bot (GPT-4o-mini)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4572000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Supplier risk scoring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" y="476402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BGMEA partnership credentials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3703320"/>
            <a:ext cx="2286000" cy="1737360"/>
          </a:xfrm>
          <a:prstGeom prst="rect">
            <a:avLst/>
          </a:prstGeom>
          <a:solidFill>
            <a:srgbClr val="12201C"/>
          </a:solidFill>
          <a:ln w="6350">
            <a:solidFill>
              <a:srgbClr val="1E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07792" y="3749039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</a:rPr>
              <a:t>CHANNELS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07792" y="3995928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BGMEA events &amp; trade missions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7792" y="4187952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Direct sales (3–6 month enterprise cycle)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07792" y="437997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WhatsApp organic (referral network)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07792" y="4572000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LinkedIn (procurement/sustainability)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07792" y="4764024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Industry ESG conferences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7800" y="3703320"/>
            <a:ext cx="6583680" cy="1737360"/>
          </a:xfrm>
          <a:prstGeom prst="rect">
            <a:avLst/>
          </a:prstGeom>
          <a:solidFill>
            <a:srgbClr val="12201C"/>
          </a:solidFill>
          <a:ln w="6350">
            <a:solidFill>
              <a:srgbClr val="1E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30952" y="3749039"/>
            <a:ext cx="6437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</a:rPr>
              <a:t>COST STRUCTURE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0952" y="3995928"/>
            <a:ext cx="6437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WhatsApp AI bot (API + GPT-4o-mini inference) — primary variable cost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30952" y="4187952"/>
            <a:ext cx="6437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Cloud infrastructure (evidence vault, API servers)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30952" y="4379976"/>
            <a:ext cx="6437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Customer success team (scales with ARPU, not headcount at early stage)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30952" y="4572000"/>
            <a:ext cx="6437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Engineering (3–4 engineers through Series A)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30952" y="4764024"/>
            <a:ext cx="6437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Sales &amp; marketing (enterprise CAC: $4,000–8,000 per deal)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577840"/>
            <a:ext cx="11612880" cy="1051560"/>
          </a:xfrm>
          <a:prstGeom prst="rect">
            <a:avLst/>
          </a:prstGeom>
          <a:solidFill>
            <a:srgbClr val="12201C"/>
          </a:solidFill>
          <a:ln w="6350">
            <a:solidFill>
              <a:srgbClr val="1E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" y="5623559"/>
            <a:ext cx="11466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</a:rPr>
              <a:t>REVENUE STREAMS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3192" y="5870448"/>
            <a:ext cx="11466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Tier 1 Essential: $2,400/mo ($28,800/yr) | Tier 2 Growth: $9,600/mo ($115,200/yr) | Tier 3 Enterprise: $48,000/mo ($576,000/yr)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" y="6062472"/>
            <a:ext cx="11466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7F2"/>
                </a:solidFill>
              </a:rPr>
              <a:t>• Annual contracts, auto-renew. Implementation fee (one-time $15,000–25,000 per customer) separate from SaaS subscription.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Framework Field ID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B87"/>
                </a:solidFill>
              </a:rPr>
              <a:t>One data entry simultaneously satisfies multiple regulatory frameworks. Each column shows the equivalent field ID across standards.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384048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490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</a:rPr>
              <a:t>CSRD ESRS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490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</a:rPr>
              <a:t>IFRS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4904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</a:rPr>
              <a:t>TCFD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14904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</a:rPr>
              <a:t>SEC Climate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11247120" cy="50292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Energy Consumption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ESRS E1-1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IFRS S2-4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TCFD 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19659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S1-4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23160"/>
            <a:ext cx="11247120" cy="502920"/>
          </a:xfrm>
          <a:prstGeom prst="rect">
            <a:avLst/>
          </a:prstGeom>
          <a:solidFill>
            <a:srgbClr val="0C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14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GHG Emissions (Scope 1–3)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ESRS E1-4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IFRS S2-4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TCFD M1+M2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25146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S1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71800"/>
            <a:ext cx="11247120" cy="50292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Water Withdrawal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ESRS E2-2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063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TCFD M1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30632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20439"/>
            <a:ext cx="11247120" cy="502920"/>
          </a:xfrm>
          <a:prstGeom prst="rect">
            <a:avLst/>
          </a:prstGeom>
          <a:solidFill>
            <a:srgbClr val="0C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118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Scope 3 Cat 1 (Purchased Goods)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611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ESRS E5-3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611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IFRS S2-4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611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TCFD M1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3611879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69079"/>
            <a:ext cx="11247120" cy="50292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6051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Emissions Intensity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160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ESRS E1-13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160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IFRS S2-4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16051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TCFD M1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4160519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S1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29B87"/>
                </a:solidFill>
              </a:rPr>
              <a:t>Note: IFRS S2 does not use S2-13 or S2-14. ESRS E1-1 = total energy consumption; ESRS E1-13 = energy intensity ratio. TCFD references use standard G1/S1/R1/M1 numbering.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Business Model  |  SaaS Pricing (USD)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39496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Tier 1 — Essential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$2,400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Up to 5 suppliers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Energy + Water + Diesel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Scope 1 &amp; 2 emissions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3 Scope 3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PDF report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SHA-256 evidence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Standard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188720"/>
            <a:ext cx="3566160" cy="539496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234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Tier 2 —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$9,600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Up to 25 suppliers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All Scope 1 + 2 + 8 Scope 3 cats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WhatsApp AI supplier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Real-time risk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TCFD / CSRD / IFRS S2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43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Dedicated CSM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Priority support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188720"/>
            <a:ext cx="3566160" cy="539496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1234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Tier 3 — 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$48,000 / 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Unlimited suppliers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Full Scope 3 (all 15 cats)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Custom framework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SAP Business One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Board-level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343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White-label export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✓  Named account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720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29B87"/>
                </a:solidFill>
              </a:rPr>
              <a:t>LTV by Tier:  Tier 1 × 12 mo = $28,800/yr  |  Tier 2 × 12 mo = $115,200/yr  |  Tier 3 × 12 mo = $576,000/yr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7F2"/>
                </a:solidFill>
              </a:rPr>
              <a:t>Bangladesh is the world's second-largest garment exporter, with $47B in annual exports (BGMEA 2023-24). Every major buyer (H&amp;M, Zara, Primark, Next) now mandates verified ESG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20116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B87"/>
                </a:solidFill>
              </a:rPr>
              <a:t>Serviceable Addressable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</a:rPr>
              <a:t>$140M
(2,800 × $50K ACV)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~2,800 BGMEA-registered
garment exporters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566160" cy="20116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B87"/>
                </a:solidFill>
              </a:rPr>
              <a:t>Target: 5-Year Customer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14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</a:rPr>
              <a:t>$10M ARR
at 200 × $50K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246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200 factories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566160" cy="20116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B87"/>
                </a:solidFill>
              </a:rPr>
              <a:t>Global ESG Compliance 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514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</a:rPr>
              <a:t>Bain, Deloitte, Gartner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46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$18B by 2027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11247120" cy="22860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Regulatory Drivers Accelerating 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BBF24"/>
                </a:solidFill>
              </a:rPr>
              <a:t>CSRD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663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Phased: large accelerated filers FY2024, all listed companies FY2026–2027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BBF24"/>
                </a:solidFill>
              </a:rPr>
              <a:t>EU Deforestation Reg.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0749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Mandatory due diligence for soy, palm oil, leather — effective Dec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BBF24"/>
                </a:solidFill>
              </a:rPr>
              <a:t>CBAM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48640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Financial carbon payments begin Jan 2026 at $50/tonne CO₂e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978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BBF24"/>
                </a:solidFill>
              </a:rPr>
              <a:t>SEC Climate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897879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Large accelerated filers: FY2025. Phased rollout by company size through FY2027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Go-to-Market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39496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822960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Phase 1
Months 1–6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8483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Foundation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Target 5 anchor factories via BGMEA partnership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278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Pilot pricing: $1,200/month (50% discount)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962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Build pre-built SAP Business One connector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7141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Validate WhatsApp AI bot in Bengali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566160" cy="539496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188720"/>
            <a:ext cx="3566160" cy="822960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234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Phase 2
Months 7–18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8483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Market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06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Scale to 25 factories (Tier 1 + Tier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2278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Introduce WhatsApp Business API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84962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Add Vietnam and India target segments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47141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First $1M ARR milestone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188720"/>
            <a:ext cx="3566160" cy="539496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188720"/>
            <a:ext cx="3566160" cy="822960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234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Phase 3
Months 19–36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08483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Network Effects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606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100 factories. Supplier data sharing network.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2278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Launch supplier benchmarking 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84962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White-label to other compliance platforms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47141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•  Series A readiness at $3M ARR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720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29B87"/>
                </a:solidFill>
              </a:rPr>
              <a:t>Sales cycle: 3–6 months for enterprise. CAC: $4,000–8,000 per closed-won deal (fully-loaded).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Supply Chain Risk Mitigations  |  Platform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3258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612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</a:rPr>
              <a:t>Geopolitical &amp; Trade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29B87"/>
                </a:solidFill>
              </a:rPr>
              <a:t>EBRD, ADB, and World Bank now condition $1B+ in trade finance on verified ESG compliance for garment exporters. Loss of 'preferred supplier' status triggers immediate order cancellation.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C55E"/>
                </a:solidFill>
              </a:rPr>
              <a:t>→  How we mitigate: Real-time monitoring of buyer compliance requirements. Alert system fires 90 days before a new requirement takes effect, giving factories time to adapt.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47120" cy="13258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786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Supplier Financial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29B87"/>
                </a:solidFill>
              </a:rPr>
              <a:t>Tier-2 and Tier-3 suppliers face cash flow pressure from rising energy costs and CBAM financial obligations. A financially distressed supplier may cut corners on environmental compliance.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C55E"/>
                </a:solidFill>
              </a:rPr>
              <a:t>→  How we mitigate: Financial health signals (energy consumption anomalies, missed data submissions, late questionnaire responses) feed into the risk scoring model. Tier C triggers procurement alert.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13258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959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Climate Physical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29B87"/>
                </a:solidFill>
              </a:rPr>
              <a:t>Bangladesh faces acute flooding, heat stress, and water scarcity. A factory's water intensity, energy source, and geographic exposure directly impact its physical climate risk profile.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C55E"/>
                </a:solidFill>
              </a:rPr>
              <a:t>→  How we mitigate: Geospatial risk overlay on supplier map. World Bank Aqueduct data integrated to flag factories in high-flood or heat-stress zones. Alerts when physical risk score deteriorates.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49240"/>
            <a:ext cx="11247120" cy="13258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132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</a:rPr>
              <a:t>Data Integrity &amp; Labour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150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29B87"/>
                </a:solidFill>
              </a:rPr>
              <a:t>Suppliers may under-report energy use or overstate ESG credentials to win contracts. A single fraudulent ESG claim can cancel a factory's orders and expose the buyer to reputational damage.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C55E"/>
                </a:solidFill>
              </a:rPr>
              <a:t>→  How we mitigate: SHA-256 evidence chain links every reported figure to a source record. Diesel consumption cross-checked against invoices. WhatsApp AI bot detects anomalous questionnaire responses.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Future AI Layer  |  Brand Building for SME Manufacturers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7F2"/>
                </a:solidFill>
              </a:rPr>
              <a:t>Beyond compliance — turning ESG data into a competitive marketing advantage for factories.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219456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</a:rPr>
              <a:t>▸  Marketing-Grade ESG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7F2"/>
                </a:solidFill>
              </a:rPr>
              <a:t>Transform verified compliance data into branded marketing assets: carbon neutral certifications, sustainability scorecards, supplier ESG badges — shareable with end consumers and procurement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BBF24"/>
                </a:solidFill>
              </a:rPr>
              <a:t>▸  Digital Product Passport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3774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7F2"/>
                </a:solidFill>
              </a:rPr>
              <a:t>Each garment carries a QR code linking to a blockchain-verified product passport: country of origin, carbon footprint, labour standards certification, water usage. End consumers can scan and verify.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4D399"/>
                </a:solidFill>
              </a:rPr>
              <a:t>▸  Sustainability Benchmarking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7F2"/>
                </a:solidFill>
              </a:rPr>
              <a:t>Facturers can benchmark their ESG metrics anonymously against peers (same country, same product category). Positioned as 'Sustainability Index' — a premium signal for conscious brands.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80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A855F7"/>
                </a:solidFill>
              </a:rPr>
              <a:t>▸  Green Financing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546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7F2"/>
                </a:solidFill>
              </a:rPr>
              <a:t>Verified ESG data via the platform unlocks green trade finance at preferential rates from ESG-linked banks (HSBC, Standard Chartered, Citi). Platform takes a referral fee on each financed transaction.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39"/>
            <a:ext cx="11247120" cy="365760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29B87"/>
                </a:solidFill>
              </a:rPr>
              <a:t>AI Architecture: GPT-4o-mini for report generation + DALL-E for branded infographic creation + WhatsApp broadcast for marketing distribution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5303520" cy="20116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537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</a:rPr>
              <a:t>TAM Extension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7F2"/>
                </a:solidFill>
              </a:rPr>
              <a:t>The ESG compliance platform reaches the sustainability manager. The AI brand layer reaches the CMO and marketing team — unlocking upsell to the same factory at 3–5× the ACV.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Revenue model: $500–2,000/month per brand asset module on top of existing SaaS subscription.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480560"/>
            <a:ext cx="5394960" cy="201168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5537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</a:rPr>
              <a:t>Time to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92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7F2"/>
                </a:solidFill>
              </a:rPr>
              <a:t>Phase 1 (Months 1–12): Automated ESG report generation (uses existing data already in platform — low marginal cost).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7F2"/>
                </a:solidFill>
              </a:rPr>
              <a:t>Phase 2 (Months 13–24): Digital product passport + QR code integration.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852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7F2"/>
                </a:solidFill>
              </a:rPr>
              <a:t>Phase 3 (Months 25–36): Green financing API + sustainability benchmarking subscription.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Why Now  |  Why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39496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The Window Is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CBAM financial payments begin 2026. CSRD is already in force. Buyers are actively penalising non-compliant suppliers. Every month of delay increases exposure.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First-Mover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6382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No dedicated ESG compliance SaaS exists for Bangladesh garment exporters. The market is unoccupied and the regulatory timeline is 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4106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Regulatory 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8853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This is not a trend — it is law. CSRD, CBAM, EUDR, and SEC rules are mandatory compliance obligations, not optional ESG reporting.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486400" cy="539496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5486400" cy="411480"/>
          </a:xfrm>
          <a:prstGeom prst="rect">
            <a:avLst/>
          </a:prstGeom>
          <a:solidFill>
            <a:srgbClr val="12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34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Why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Deep Framework Expertise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3911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3 years of mapping GHG Protocol, CSRD ESRS E1-1, IFRS S2-1 through S2-4, TCFD G1/S1/R1/M1, and SEC climate disclosures into one automated engine.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16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WhatsApp-First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6382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Bangladesh factory managers live on WhatsApp. The AI bot meets suppliers where they are — no app to download, no portal to learn.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4106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Auditor-Grade Evidence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8853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7F2"/>
                </a:solidFill>
              </a:rPr>
              <a:t>SHA-256 tamper-evident record. Big 4 auditors can independently verify every number without a phone call to the supplier.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164592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$47B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Bangladesh garment
exports annually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560320" cy="164592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71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2,800+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BGMEA-registered
garment exporters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2560320" cy="164592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F4444"/>
                </a:solidFill>
              </a:rPr>
              <a:t>~4,000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Scope 3 Cat 1
(tCO₂e, est.)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280160"/>
            <a:ext cx="2560320" cy="164592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371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BBF24"/>
                </a:solidFill>
              </a:rPr>
              <a:t>$50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CBAM carbon price
per tonne CO₂e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11247120" cy="3200400"/>
          </a:xfrm>
          <a:prstGeom prst="rect">
            <a:avLst/>
          </a:prstGeom>
          <a:solidFill>
            <a:srgbClr val="1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Unit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Average ACV: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749039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50,000 / year (blended Tier 1–2)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330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Estimated CAC: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133087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$4,000–8,000 per enterprise B2B deal (3–6 month sales cycle)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171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LTV:CAC Ratio: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517136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Target 10:1 at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011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Gross Margin: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901183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Target 80%+ at 100+ 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852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Payback Period: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285231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7F2"/>
                </a:solidFill>
              </a:rPr>
              <a:t>8–14 months at target pricing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29B87"/>
                </a:solidFill>
              </a:rPr>
              <a:t>Bangladesh Export Textiles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The compliance platform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2C55E"/>
                </a:solidFill>
              </a:rPr>
              <a:t>industry has been waiting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29B87"/>
                </a:solidFill>
              </a:rPr>
              <a:t>Contact:  info@bangladeshtextiles.com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B87"/>
                </a:solidFill>
              </a:rPr>
              <a:t>Confidential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